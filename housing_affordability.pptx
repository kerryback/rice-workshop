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1280160" cy="-36576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4572000"/>
            <a:ext cx="1097280" cy="54864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5120640"/>
            <a:ext cx="1188720" cy="-91440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4206240"/>
            <a:ext cx="1097280" cy="54864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4754880"/>
            <a:ext cx="1188720" cy="-146304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3291840"/>
            <a:ext cx="1097280" cy="54864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3840480"/>
            <a:ext cx="1188720" cy="-164592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94560"/>
            <a:ext cx="1097280" cy="54864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2743200"/>
            <a:ext cx="1188720" cy="-128016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0" y="1463040"/>
            <a:ext cx="1764792" cy="365760"/>
          </a:xfrm>
          <a:prstGeom prst="line">
            <a:avLst/>
          </a:prstGeom>
          <a:noFill/>
          <a:ln w="31750">
            <a:solidFill>
              <a:srgbClr val="3144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AFFORDABILITY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Mortgage Rates, Home Prices, and the Cost of Buying, 1990–2024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quarterly analysis using FRED data on 30-year mortgage rates (MORTGAGE30US),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home sale price (MSPUS), and real median household income (MEHOINUSA672N)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9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Affordability Ratio Is Computed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FRED series, resampled to a common quarterly frequency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Resample to quarterly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mortgage rates (MORTGAGE30US) are averaged within each quarter. Home price (MSPUS) is already quarterly. Real median household income (MEHOINUSA672N) is annual and is linearly interpolated to quarterly values.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C24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1089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 monthly mortgage payment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08760" y="3493008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a 20% down payment and a 30-year fixed loan on the quarter's median home price. The standard amortization formula gives the monthly principal-and-interest payment on the remaining 80% financed.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5262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as % of income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08760" y="4910328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F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the monthly payment by one-twelfth of that quarter's median household income. The result is the affordability ratio — the share of a typical household's monthly income a median home purchase would require.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9893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Payment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0.8 × Price ×  </a:t>
            </a:r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r(1+r)</a:t>
            </a:r>
            <a:pPr indent="0" marL="0">
              <a:buNone/>
            </a:pPr>
            <a:r>
              <a:rPr lang="en-US" sz="1500" i="1" baseline="3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³⁶⁰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⁄  </a:t>
            </a:r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[(1+r)</a:t>
            </a:r>
            <a:pPr indent="0" marL="0">
              <a:buNone/>
            </a:pPr>
            <a:r>
              <a:rPr lang="en-US" sz="1500" i="1" baseline="3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³⁶⁰</a:t>
            </a:r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− 1]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where r = annual rate ÷ 12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Has Whipsawed Since the Housing Bubble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mortgage payment as a % of median household income, quarterly, 1990–2024</a:t>
            </a:r>
            <a:endParaRPr lang="en-US" sz="1300" dirty="0"/>
          </a:p>
        </p:txBody>
      </p:sp>
      <p:pic>
        <p:nvPicPr>
          <p:cNvPr id="4" name="Image 0" descr="affordability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It Take to Afford the 2024 Median Home?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principal &amp; interest payment by mortgage rate and home price (20% down, 30-yr fixed)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prices shown are ±20% around the 2024 median sale price of $418,975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07040" cy="3566160"/>
        </p:xfrm>
        <a:graphic>
          <a:graphicData uri="http://schemas.openxmlformats.org/drawingml/2006/table">
            <a:tbl>
              <a:tblPr/>
              <a:tblGrid>
                <a:gridCol w="1737360"/>
                <a:gridCol w="1773936"/>
                <a:gridCol w="1773936"/>
                <a:gridCol w="1773936"/>
                <a:gridCol w="1773936"/>
                <a:gridCol w="1773936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\ Price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$335K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$377K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 Median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$419K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$461K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$503K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A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$2,453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today's ~6.7% rate, a median home carries roughly a $2,300/mo payment — about a third of typical monthly household income.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632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24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 bubble peak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prices outran income even at moderate ~6.6% rates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6326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7373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54880" y="25146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trough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92608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Post-crash prices + near-record-low rates made homes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affordable in decades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0" y="150876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2632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17373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24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86800" y="25146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spike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0" y="292608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above 7% collided with still-elevated prices —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least affordable quarter on record since 1990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is driven jointly by rates and prices, not either alone.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2012 trough combined falling prices with falling rates; the 2023 spike combined still-high prices with rapidly rising rates. By early 2024, the ratio (~31.7%) remained near its historic high, roughly double the 2012 low — underscoring how far affordability has deteriorated since the post-crash trough.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2026-08-06T20:02:53Z</dcterms:created>
  <dcterms:modified xsi:type="dcterms:W3CDTF">2026-08-06T20:02:53Z</dcterms:modified>
</cp:coreProperties>
</file>